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Churned</c:v>
                  </c:pt>
                  <c:pt idx="1">
                    <c:v>Retained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49.6</c:v>
                </c:pt>
                <c:pt idx="1">
                  <c:v>50.4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Gradient Boosting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0.631</c:v>
                </c:pt>
                <c:pt idx="1">
                  <c:v>0.689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7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Overall (49.6%)</c:v>
                  </c:pt>
                  <c:pt idx="1">
                    <c:v>Top 20% Risk</c:v>
                  </c:pt>
                  <c:pt idx="2">
                    <c:v>Top 10% Risk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49.6</c:v>
                </c:pt>
                <c:pt idx="1">
                  <c:v>72.9</c:v>
                </c:pt>
                <c:pt idx="2">
                  <c:v>78.3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560320"/>
            <a:ext cx="2560320" cy="256032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Churn Prevention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Telecom Operator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retention proposal using real Client.csv and Record.csv outputs.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337560"/>
            <a:ext cx="16002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3739896"/>
            <a:ext cx="160020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04872" y="324612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3337560"/>
            <a:ext cx="16002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50592" y="3739896"/>
            <a:ext cx="160020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61104" y="324612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06824" y="3337560"/>
            <a:ext cx="16002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06824" y="3739896"/>
            <a:ext cx="160020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Assignment  |  Telecom Churn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051560"/>
            <a:ext cx="59436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43000"/>
            <a:ext cx="5760720" cy="342900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100,000 customers; observed churn rate is 49.6%.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performs best with validation AUC 0.689.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10% highest-risk customers churn at 78.3% — 1.58× the average.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drives a tiered retention program: human contact for highest risk, low-cost outreach for medium risk.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051560"/>
            <a:ext cx="2423160" cy="1078992"/>
          </a:xfrm>
          <a:prstGeom prst="roundRect">
            <a:avLst>
              <a:gd name="adj" fmla="val 678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143000"/>
            <a:ext cx="2331720" cy="6258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92240" y="1698955"/>
            <a:ext cx="2331720" cy="388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46520" y="2295144"/>
            <a:ext cx="2423160" cy="1078992"/>
          </a:xfrm>
          <a:prstGeom prst="roundRect">
            <a:avLst>
              <a:gd name="adj" fmla="val 678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386584"/>
            <a:ext cx="2331720" cy="6258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92240" y="2942539"/>
            <a:ext cx="2331720" cy="388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46520" y="3538728"/>
            <a:ext cx="2423160" cy="1078992"/>
          </a:xfrm>
          <a:prstGeom prst="roundRect">
            <a:avLst>
              <a:gd name="adj" fmla="val 678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3630168"/>
            <a:ext cx="2331720" cy="6258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92240" y="4186123"/>
            <a:ext cx="2331720" cy="388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Risk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41605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115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profile, household, handset, credit and demographic variables.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" y="2697480"/>
            <a:ext cx="41605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7340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Record.csv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30632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Usage, revenue, call quality, customer care and the churn target variable.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78992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207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Key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0640" y="2212848"/>
            <a:ext cx="32004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377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999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9992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6210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6210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2428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2428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4663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one-to-one  |  Target: churn = 1 means customer left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Churn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2194560" cy="1920240"/>
          </a:xfrm>
          <a:prstGeom prst="roundRect">
            <a:avLst>
              <a:gd name="adj" fmla="val 3810"/>
            </a:avLst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188720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7472" y="202996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churning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3127248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3218688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" y="37673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revenue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06624" y="1078992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98064" y="11704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of Use Decline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98064" y="14813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−22.8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798064" y="2039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69664" y="14813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169664" y="2039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06624" y="265176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98064" y="2743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Age (days)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98064" y="305409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798064" y="3611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9664" y="305409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169664" y="3611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852160" y="1078992"/>
          <a:ext cx="3017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Signals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5120640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6276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1691640"/>
            <a:ext cx="3280867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83987" y="16733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1305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eqpdays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29968" y="2194560"/>
            <a:ext cx="3031236" cy="256032"/>
          </a:xfrm>
          <a:prstGeom prst="roundRect">
            <a:avLst>
              <a:gd name="adj" fmla="val 17857"/>
            </a:avLst>
          </a:prstGeom>
          <a:solidFill>
            <a:srgbClr val="0077A8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4356" y="2176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633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change_mou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29968" y="2697480"/>
            <a:ext cx="2781605" cy="256032"/>
          </a:xfrm>
          <a:prstGeom prst="roundRect">
            <a:avLst>
              <a:gd name="adj" fmla="val 17857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4725" y="26791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1363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mou_Mean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29968" y="3200400"/>
            <a:ext cx="2531974" cy="256032"/>
          </a:xfrm>
          <a:prstGeom prst="roundRect">
            <a:avLst>
              <a:gd name="adj" fmla="val 17857"/>
            </a:avLst>
          </a:prstGeom>
          <a:solidFill>
            <a:srgbClr val="0077A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5094" y="31821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" y="36393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avgqty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29968" y="3703320"/>
            <a:ext cx="2211019" cy="256032"/>
          </a:xfrm>
          <a:prstGeom prst="roundRect">
            <a:avLst>
              <a:gd name="adj" fmla="val 17857"/>
            </a:avLst>
          </a:prstGeom>
          <a:solidFill>
            <a:srgbClr val="0077A8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4139" y="3685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" y="41422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hnd_price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29968" y="4206240"/>
            <a:ext cx="1961388" cy="256032"/>
          </a:xfrm>
          <a:prstGeom prst="roundRect">
            <a:avLst>
              <a:gd name="adj" fmla="val 17857"/>
            </a:avLst>
          </a:prstGeom>
          <a:solidFill>
            <a:srgbClr val="0077A8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4508" y="4187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" y="4645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decline → early churn warning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96128" y="107899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42432" y="1207008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Regions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42432" y="1737360"/>
            <a:ext cx="2944368" cy="822960"/>
          </a:xfrm>
          <a:prstGeom prst="roundRect">
            <a:avLst>
              <a:gd name="adj" fmla="val 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15584" y="1792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 / Rocky Mtn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8952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815584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42432" y="2743200"/>
            <a:ext cx="2944368" cy="822960"/>
          </a:xfrm>
          <a:prstGeom prst="roundRect">
            <a:avLst>
              <a:gd name="adj" fmla="val 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15584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Florida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89520" y="2834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53.4%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815584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42432" y="3749040"/>
            <a:ext cx="2944368" cy="822960"/>
          </a:xfrm>
          <a:prstGeom prst="roundRect">
            <a:avLst>
              <a:gd name="adj" fmla="val 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15584" y="38039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North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89520" y="3840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52.1%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815584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115568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252728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2416" y="122529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Imputation, scaling and categorical encoding on merged Client + Record dataset.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252728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04688" y="122529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Logistic Regression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1700784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establishes an interpretable performance floor.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2990088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" y="3127248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2416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Model — Histogram Gradient Boosting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75304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churn patterns; handles missing values natively.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90088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3127248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0468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3575304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train-validation split. Metric: ROC-AUC (ranks churn risk).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92608" y="109728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097280"/>
            <a:ext cx="3246120" cy="1645920"/>
          </a:xfrm>
          <a:prstGeom prst="roundRect">
            <a:avLst>
              <a:gd name="adj" fmla="val 4444"/>
            </a:avLst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188720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0" y="1517904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15000" y="21579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0.689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577840" y="2907792"/>
            <a:ext cx="3246120" cy="1847088"/>
          </a:xfrm>
          <a:prstGeom prst="roundRect">
            <a:avLst>
              <a:gd name="adj" fmla="val 3960"/>
            </a:avLst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87568" y="3017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risk score per customer,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automatic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92608" y="1078992"/>
          <a:ext cx="5120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1078992"/>
            <a:ext cx="3200400" cy="1115568"/>
          </a:xfrm>
          <a:prstGeom prst="roundRect">
            <a:avLst>
              <a:gd name="adj" fmla="val 655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170432"/>
            <a:ext cx="3108960" cy="6470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669280" y="1748333"/>
            <a:ext cx="3108960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Risk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23560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1,566 churn cases in validation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23560" y="2340864"/>
            <a:ext cx="3200400" cy="1115568"/>
          </a:xfrm>
          <a:prstGeom prst="roundRect">
            <a:avLst>
              <a:gd name="adj" fmla="val 655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2432304"/>
            <a:ext cx="3108960" cy="6470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669280" y="3010205"/>
            <a:ext cx="3108960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Risk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23560" y="3474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2,914 churn cases in validation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23560" y="3602736"/>
            <a:ext cx="3200400" cy="1115568"/>
          </a:xfrm>
          <a:prstGeom prst="roundRect">
            <a:avLst>
              <a:gd name="adj" fmla="val 655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3694176"/>
            <a:ext cx="3108960" cy="6470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1.58×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669280" y="4272077"/>
            <a:ext cx="3108960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vs Random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623560" y="4736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efficient targeting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Simulation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51206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70432"/>
            <a:ext cx="4846320" cy="342900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 threshold of 0.17 captures 99.8% of churn cases but flags nearly all customers.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0.17 is 50.0% — barely better than the base churn rate.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useful as an early-warning flag, not a universal discount rule.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policy must be tiered by score and customer value.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96128" y="1078992"/>
            <a:ext cx="3246120" cy="2084832"/>
          </a:xfrm>
          <a:prstGeom prst="roundRect">
            <a:avLst>
              <a:gd name="adj" fmla="val 3509"/>
            </a:avLst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42432" y="1170432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(threshold 0.17)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87568" y="1627632"/>
            <a:ext cx="1444752" cy="676656"/>
          </a:xfrm>
          <a:prstGeom prst="roundRect">
            <a:avLst>
              <a:gd name="adj" fmla="val 810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24144" y="1664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24144" y="190195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9,892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60336" y="1627632"/>
            <a:ext cx="1444752" cy="676656"/>
          </a:xfrm>
          <a:prstGeom prst="roundRect">
            <a:avLst>
              <a:gd name="adj" fmla="val 810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664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296912" y="190195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9,889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87568" y="2414016"/>
            <a:ext cx="1444752" cy="676656"/>
          </a:xfrm>
          <a:prstGeom prst="roundRect">
            <a:avLst>
              <a:gd name="adj" fmla="val 810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24144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24144" y="2688336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60336" y="2414016"/>
            <a:ext cx="1444752" cy="676656"/>
          </a:xfrm>
          <a:prstGeom prst="roundRect">
            <a:avLst>
              <a:gd name="adj" fmla="val 810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6912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96912" y="2688336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96128" y="3291840"/>
            <a:ext cx="3246120" cy="1389888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87568" y="3383280"/>
            <a:ext cx="3063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tiers, not one broad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rule.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Policy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115568"/>
            <a:ext cx="4206240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243584"/>
            <a:ext cx="3913632" cy="384048"/>
          </a:xfrm>
          <a:prstGeom prst="roundRect">
            <a:avLst>
              <a:gd name="adj" fmla="val 19048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43584"/>
            <a:ext cx="3785616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+ High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specialist call and personalized offer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206240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43584"/>
            <a:ext cx="3913632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243584"/>
            <a:ext cx="3785616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+ Old Handset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1719072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or device financing offer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" y="2990088"/>
            <a:ext cx="4206240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3118104"/>
            <a:ext cx="3913632" cy="384048"/>
          </a:xfrm>
          <a:prstGeom prst="roundRect">
            <a:avLst>
              <a:gd name="adj" fmla="val 19048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3118104"/>
            <a:ext cx="3785616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+ Usage Decline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93592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service check and plan 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990088"/>
            <a:ext cx="4206240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118104"/>
            <a:ext cx="3913632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3118104"/>
            <a:ext cx="3785616" cy="3840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3593592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SMS / app campaign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" y="4663440"/>
            <a:ext cx="8558784" cy="292608"/>
          </a:xfrm>
          <a:prstGeom prst="roundRect">
            <a:avLst>
              <a:gd name="adj" fmla="val 1875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68172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 →  Monitor only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18872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Net 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517904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$659,709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84048" y="23408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sample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3383280"/>
            <a:ext cx="1115568" cy="1389888"/>
          </a:xfrm>
          <a:prstGeom prst="roundRect">
            <a:avLst>
              <a:gd name="adj" fmla="val 65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" y="3474720"/>
            <a:ext cx="1024128" cy="80613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" y="4217213"/>
            <a:ext cx="1024128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retention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assumed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54480" y="3383280"/>
            <a:ext cx="1115568" cy="1389888"/>
          </a:xfrm>
          <a:prstGeom prst="roundRect">
            <a:avLst>
              <a:gd name="adj" fmla="val 65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00200" y="3474720"/>
            <a:ext cx="1024128" cy="80613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mo.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4217213"/>
            <a:ext cx="1024128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revenue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16352" y="3383280"/>
            <a:ext cx="1115568" cy="1389888"/>
          </a:xfrm>
          <a:prstGeom prst="roundRect">
            <a:avLst>
              <a:gd name="adj" fmla="val 65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62072" y="3474720"/>
            <a:ext cx="1024128" cy="80613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862072" y="4217213"/>
            <a:ext cx="1024128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cost per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 customer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33088" y="1078992"/>
            <a:ext cx="4736592" cy="3694176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4528" y="1170432"/>
            <a:ext cx="4535424" cy="3511296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simulation estimates net value of 659,709 on the validation sample.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25% successful retention, 6 months retained revenue, $10 offer cost per contact.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business case should update these with actual campaign cost and customer lifetime value.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gives a measurable, repeatable way to compare retained revenue against offer spend.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33088" y="4663440"/>
            <a:ext cx="4736592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4681728"/>
            <a:ext cx="4626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with real campaign costs before final pricing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1920240" cy="285292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581912"/>
            <a:ext cx="585216" cy="58521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581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2276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" y="2734056"/>
            <a:ext cx="1700784" cy="1417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customers weekly or monthly using latest usage and service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50008" y="2843784"/>
            <a:ext cx="30175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88336" y="1417320"/>
            <a:ext cx="1920240" cy="285292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581912"/>
            <a:ext cx="585216" cy="58521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581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79776" y="2276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98064" y="2734056"/>
            <a:ext cx="1700784" cy="1417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into high, medium and low churn risk.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2843784"/>
            <a:ext cx="30175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92624" y="1417320"/>
            <a:ext cx="1920240" cy="285292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0136" y="1581912"/>
            <a:ext cx="585216" cy="58521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0136" y="1581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84064" y="2276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02352" y="2734056"/>
            <a:ext cx="1700784" cy="1417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action type to risk level, revenue value and churn reason.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58584" y="2843784"/>
            <a:ext cx="30175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96912" y="1417320"/>
            <a:ext cx="1920240" cy="285292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64424" y="1581912"/>
            <a:ext cx="585216" cy="58521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64424" y="1581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88352" y="2276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Refresh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2734056"/>
            <a:ext cx="1700784" cy="1417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acceptance rates, retained revenue and churn outcomes — then retrain.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Controls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115568"/>
            <a:ext cx="4206240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243584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435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treat the score as a final customer decision.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206240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43584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435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19472" y="1719072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churn rate, campaign ROI, contact rate and customer complaints.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" y="2990088"/>
            <a:ext cx="4206240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3118104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1181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593592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training on future information after churn is already known (data leakage).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990088"/>
            <a:ext cx="4206240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118104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1181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9472" y="3593592"/>
            <a:ext cx="3858768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 after new campaign outcomes are collected.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3108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45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046720" y="457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207008"/>
            <a:ext cx="8211312" cy="1353312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13441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Scoring System — Implementation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" y="18288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implementation fee for the full churn scoring pipeline.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8211312" cy="1353312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29169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Monitoring, Retraining &amp; Reporting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9169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/ 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" y="340156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monitoring, retraining after campaigns, and executive reporting.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370832"/>
            <a:ext cx="8211312" cy="566928"/>
          </a:xfrm>
          <a:prstGeom prst="roundRect">
            <a:avLst>
              <a:gd name="adj" fmla="val 12903"/>
            </a:avLst>
          </a:prstGeom>
          <a:solidFill>
            <a:srgbClr val="00B4D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" y="440740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performance fee — tied to verified retained revenue.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2860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0077A8">
              <a:alpha val="18000"/>
            </a:srgbClr>
          </a:solidFill>
          <a:ln w="12700">
            <a:solidFill>
              <a:srgbClr val="0077A8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618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gradient boosting churn score as a retention decision-support tool.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12140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top 10%–20% risk tiers — they show the clearest lift.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0906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03580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first campaign to measure true offer cost, success rate and retained revenue.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0050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95020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 and scale the program using real campaign outcomes.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645152"/>
            <a:ext cx="813816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46634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Churn Prevention  |  Final Assignment  |  Telecom Churn Prediction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Churn Prevention – Telecom Operator</dc:title>
  <dc:subject>PptxGenJS Presentation</dc:subject>
  <dc:creator>PptxGenJS</dc:creator>
  <cp:lastModifiedBy>PptxGenJS</cp:lastModifiedBy>
  <cp:revision>1</cp:revision>
  <dcterms:created xsi:type="dcterms:W3CDTF">2026-06-19T00:40:18Z</dcterms:created>
  <dcterms:modified xsi:type="dcterms:W3CDTF">2026-06-19T00:40:18Z</dcterms:modified>
</cp:coreProperties>
</file>